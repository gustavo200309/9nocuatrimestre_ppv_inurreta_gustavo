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3C766-A71D-3A13-6C78-2AA21E04F780}" v="87" dt="2026-05-29T04:15:31.493"/>
    <p1510:client id="{2BFAAFD3-8FE4-8D2C-5FBC-7C0CECF90C1F}" v="125" dt="2026-05-29T04:29:45.515"/>
    <p1510:client id="{5468E6AA-ABB1-332A-181E-4667379B10D2}" v="59" dt="2026-05-29T03:29:15.718"/>
    <p1510:client id="{5C73980E-AC88-1CBF-F03A-08D42601C5C7}" v="93" dt="2026-05-29T16:05:01.355"/>
    <p1510:client id="{CE0E4BC0-F081-1017-BAF6-1FC1D1C4A858}" v="148" dt="2026-05-29T03:18:25.907"/>
    <p1510:client id="{F62184A4-612D-22CD-0A20-7524A4D30E33}" v="57" dt="2026-05-29T05:30:42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5/29/2026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34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60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5/29/2026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1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5/29/2026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19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5/29/2026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798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2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5/29/2026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0659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5/29/2026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2165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58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5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5/29/2026</a:t>
            </a:fld>
            <a:endParaRPr lang="en-US" spc="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44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750D7-24A8-49FA-A959-E247A4E35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891" y="4617322"/>
            <a:ext cx="8060359" cy="1791807"/>
          </a:xfrm>
        </p:spPr>
        <p:txBody>
          <a:bodyPr>
            <a:normAutofit/>
          </a:bodyPr>
          <a:lstStyle/>
          <a:p>
            <a:pPr algn="l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s-MX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"/>
                <a:ea typeface="Lato"/>
                <a:cs typeface="Arial"/>
              </a:rPr>
              <a:t>Alumno: Gustavo Enrique Inurreta Brito</a:t>
            </a:r>
          </a:p>
          <a:p>
            <a:pPr algn="l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s-MX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"/>
                <a:ea typeface="Lato"/>
                <a:cs typeface="Arial"/>
              </a:rPr>
              <a:t>Materia: Proyecto</a:t>
            </a:r>
            <a:r>
              <a:rPr lang="es-MX" sz="16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"/>
                <a:ea typeface="Lato"/>
                <a:cs typeface="Arial"/>
              </a:rPr>
              <a:t> de una Plataforma Virtual</a:t>
            </a:r>
          </a:p>
          <a:p>
            <a:pPr algn="l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s-MX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"/>
                <a:ea typeface="Lato"/>
                <a:cs typeface="Arial"/>
              </a:rPr>
              <a:t>Mario Alonso Segovia Gutiérrez</a:t>
            </a:r>
            <a:br>
              <a:rPr lang="es-MX" sz="1600" dirty="0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"/>
                <a:ea typeface="Lato"/>
                <a:cs typeface="Arial"/>
              </a:rPr>
            </a:br>
            <a:br>
              <a:rPr lang="en-US" sz="1600" dirty="0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"/>
                <a:cs typeface="Arial"/>
              </a:rPr>
            </a:br>
            <a:r>
              <a:rPr lang="es-MX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"/>
                <a:ea typeface="Lato"/>
                <a:cs typeface="Arial"/>
              </a:rPr>
              <a:t>Fecha: 29/5/2026</a:t>
            </a:r>
            <a:endParaRPr lang="es-MX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65000"/>
                    <a:lumOff val="35000"/>
                    <a:alpha val="50000"/>
                  </a:prst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Arial"/>
              <a:cs typeface="Arial"/>
            </a:endParaRPr>
          </a:p>
        </p:txBody>
      </p:sp>
      <p:pic>
        <p:nvPicPr>
          <p:cNvPr id="4" name="Imagen 3" descr="What is Extreme Programming (XP) | Arkbauer">
            <a:extLst>
              <a:ext uri="{FF2B5EF4-FFF2-40B4-BE49-F238E27FC236}">
                <a16:creationId xmlns:a16="http://schemas.microsoft.com/office/drawing/2014/main" id="{73BA1603-5704-FB2F-5275-35CBF760CB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60" b="18081"/>
          <a:stretch>
            <a:fillRect/>
          </a:stretch>
        </p:blipFill>
        <p:spPr>
          <a:xfrm>
            <a:off x="20" y="4923"/>
            <a:ext cx="12191980" cy="42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77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33666-B856-B0DF-335E-466DF0638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49" y="206188"/>
            <a:ext cx="10645586" cy="1905000"/>
          </a:xfrm>
        </p:spPr>
        <p:txBody>
          <a:bodyPr>
            <a:normAutofit/>
          </a:bodyPr>
          <a:lstStyle/>
          <a:p>
            <a:r>
              <a:rPr lang="es-MX" sz="3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Arial"/>
                <a:ea typeface="+mj-lt"/>
                <a:cs typeface="Arial"/>
              </a:rPr>
              <a:t>¿Qué es la </a:t>
            </a:r>
            <a:r>
              <a:rPr lang="en-US" sz="360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Arial"/>
                <a:ea typeface="+mj-lt"/>
                <a:cs typeface="Arial"/>
              </a:rPr>
              <a:t>Metodología</a:t>
            </a:r>
            <a:r>
              <a:rPr lang="en-US" sz="3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Arial"/>
                <a:ea typeface="+mj-lt"/>
                <a:cs typeface="Arial"/>
              </a:rPr>
              <a:t> </a:t>
            </a:r>
            <a:r>
              <a:rPr lang="en-US" sz="360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Arial"/>
                <a:ea typeface="+mj-lt"/>
                <a:cs typeface="Arial"/>
              </a:rPr>
              <a:t>programación</a:t>
            </a:r>
            <a:r>
              <a:rPr lang="en-US" sz="3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Arial"/>
                <a:ea typeface="+mj-lt"/>
                <a:cs typeface="Arial"/>
              </a:rPr>
              <a:t> extrema?</a:t>
            </a:r>
            <a:endParaRPr lang="es-MX" sz="360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9C4BA3-F19A-0F1A-39E8-84C661DDA096}"/>
              </a:ext>
            </a:extLst>
          </p:cNvPr>
          <p:cNvSpPr txBox="1"/>
          <p:nvPr/>
        </p:nvSpPr>
        <p:spPr>
          <a:xfrm>
            <a:off x="369794" y="2303193"/>
            <a:ext cx="609600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sz="2400" b="1">
                <a:latin typeface="Arial"/>
              </a:rPr>
              <a:t>Definición:</a:t>
            </a:r>
            <a:r>
              <a:rPr lang="es-MX" sz="2400">
                <a:latin typeface="Arial"/>
              </a:rPr>
              <a:t> es</a:t>
            </a:r>
            <a:r>
              <a:rPr lang="es-MX" sz="2400" b="0" i="0" u="none" strike="noStrike" baseline="0">
                <a:latin typeface="Arial"/>
              </a:rPr>
              <a:t> una metodología ágil de desarrollo de software enfocada en crear sistemas de alta calidad de manera rápida y flexible</a:t>
            </a:r>
            <a:endParaRPr lang="es-MX"/>
          </a:p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CA76153-F895-5E51-2332-25A89C58AFFC}"/>
              </a:ext>
            </a:extLst>
          </p:cNvPr>
          <p:cNvSpPr txBox="1"/>
          <p:nvPr/>
        </p:nvSpPr>
        <p:spPr>
          <a:xfrm>
            <a:off x="254972" y="4016465"/>
            <a:ext cx="609600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latin typeface="Arial"/>
                <a:cs typeface="Arial"/>
              </a:rPr>
              <a:t>Objetivos</a:t>
            </a:r>
            <a:r>
              <a:rPr lang="en-US" sz="2400" b="1">
                <a:latin typeface="Arial"/>
                <a:cs typeface="Arial"/>
              </a:rPr>
              <a:t>:</a:t>
            </a:r>
          </a:p>
          <a:p>
            <a:pPr marL="342900" indent="-342900">
              <a:buAutoNum type="arabicPeriod"/>
            </a:pPr>
            <a:r>
              <a:rPr lang="en-US" sz="2400">
                <a:latin typeface="Arial"/>
                <a:cs typeface="Arial"/>
              </a:rPr>
              <a:t>Mejorar la </a:t>
            </a:r>
            <a:r>
              <a:rPr lang="en-US" sz="2400" err="1">
                <a:latin typeface="Arial"/>
                <a:cs typeface="Arial"/>
              </a:rPr>
              <a:t>calidad</a:t>
            </a:r>
            <a:r>
              <a:rPr lang="en-US" sz="2400">
                <a:latin typeface="Arial"/>
                <a:cs typeface="Arial"/>
              </a:rPr>
              <a:t> del software. </a:t>
            </a:r>
          </a:p>
          <a:p>
            <a:pPr marL="342900" indent="-342900">
              <a:buAutoNum type="arabicPeriod"/>
            </a:pPr>
            <a:r>
              <a:rPr lang="en-US" sz="2400">
                <a:latin typeface="Arial"/>
                <a:cs typeface="Arial"/>
              </a:rPr>
              <a:t>Adaptarse </a:t>
            </a:r>
            <a:r>
              <a:rPr lang="en-US" sz="2400" err="1">
                <a:latin typeface="Arial"/>
                <a:cs typeface="Arial"/>
              </a:rPr>
              <a:t>rápidamente</a:t>
            </a:r>
            <a:r>
              <a:rPr lang="en-US" sz="2400">
                <a:latin typeface="Arial"/>
                <a:cs typeface="Arial"/>
              </a:rPr>
              <a:t> a </a:t>
            </a:r>
            <a:r>
              <a:rPr lang="en-US" sz="2400" err="1">
                <a:latin typeface="Arial"/>
                <a:cs typeface="Arial"/>
              </a:rPr>
              <a:t>cambios</a:t>
            </a:r>
            <a:r>
              <a:rPr lang="en-US" sz="24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400" err="1">
                <a:latin typeface="Arial"/>
                <a:cs typeface="Arial"/>
              </a:rPr>
              <a:t>Mantener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comunicación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constante</a:t>
            </a:r>
            <a:r>
              <a:rPr lang="en-US" sz="2400">
                <a:latin typeface="Arial"/>
                <a:cs typeface="Arial"/>
              </a:rPr>
              <a:t> con el </a:t>
            </a:r>
            <a:r>
              <a:rPr lang="en-US" sz="2400" err="1">
                <a:latin typeface="Arial"/>
                <a:cs typeface="Arial"/>
              </a:rPr>
              <a:t>cliente</a:t>
            </a:r>
            <a:r>
              <a:rPr lang="en-US" sz="24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400" err="1">
                <a:latin typeface="Arial"/>
                <a:cs typeface="Arial"/>
              </a:rPr>
              <a:t>Entregar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funcionalidades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en</a:t>
            </a:r>
            <a:r>
              <a:rPr lang="en-US" sz="2400">
                <a:latin typeface="Arial"/>
                <a:cs typeface="Arial"/>
              </a:rPr>
              <a:t> poco </a:t>
            </a:r>
            <a:r>
              <a:rPr lang="en-US" sz="2400" err="1">
                <a:latin typeface="Arial"/>
                <a:cs typeface="Arial"/>
              </a:rPr>
              <a:t>tiempo</a:t>
            </a:r>
            <a:r>
              <a:rPr lang="en-US" sz="2400">
                <a:latin typeface="Arial"/>
                <a:cs typeface="Arial"/>
              </a:rPr>
              <a:t>.</a:t>
            </a:r>
          </a:p>
          <a:p>
            <a:pPr algn="ctr"/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F2CAAA-3EA0-2632-41D7-CDFB7CF799C4}"/>
              </a:ext>
            </a:extLst>
          </p:cNvPr>
          <p:cNvSpPr txBox="1"/>
          <p:nvPr/>
        </p:nvSpPr>
        <p:spPr>
          <a:xfrm>
            <a:off x="7244219" y="2426918"/>
            <a:ext cx="6096000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latin typeface="Arial"/>
                <a:cs typeface="Arial"/>
              </a:rPr>
              <a:t>Qué</a:t>
            </a:r>
            <a:r>
              <a:rPr lang="en-US" sz="2400" b="1">
                <a:latin typeface="Arial"/>
                <a:cs typeface="Arial"/>
              </a:rPr>
              <a:t> </a:t>
            </a:r>
            <a:r>
              <a:rPr lang="en-US" sz="2400" b="1" err="1">
                <a:latin typeface="Arial"/>
                <a:cs typeface="Arial"/>
              </a:rPr>
              <a:t>busca</a:t>
            </a:r>
            <a:r>
              <a:rPr lang="en-US" sz="2400" b="1">
                <a:latin typeface="Arial"/>
                <a:cs typeface="Arial"/>
              </a:rPr>
              <a:t> resolver:</a:t>
            </a:r>
            <a:endParaRPr lang="es-MX" sz="2400" b="1">
              <a:latin typeface="Arial"/>
              <a:cs typeface="Arial"/>
            </a:endParaRPr>
          </a:p>
          <a:p>
            <a:pPr marL="342900" indent="-342900">
              <a:buAutoNum type="arabicPeriod"/>
            </a:pPr>
            <a:r>
              <a:rPr lang="en-US" sz="2400" err="1">
                <a:latin typeface="Arial"/>
                <a:cs typeface="Arial"/>
              </a:rPr>
              <a:t>Retrasos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en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proyectos</a:t>
            </a:r>
            <a:r>
              <a:rPr lang="en-US" sz="24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400">
                <a:latin typeface="Arial"/>
                <a:cs typeface="Arial"/>
              </a:rPr>
              <a:t>Mala </a:t>
            </a:r>
            <a:r>
              <a:rPr lang="en-US" sz="2400" err="1">
                <a:latin typeface="Arial"/>
                <a:cs typeface="Arial"/>
              </a:rPr>
              <a:t>comunicación</a:t>
            </a:r>
            <a:r>
              <a:rPr lang="en-US" sz="24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400" err="1">
                <a:latin typeface="Arial"/>
                <a:cs typeface="Arial"/>
              </a:rPr>
              <a:t>Errores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frecuentes</a:t>
            </a:r>
            <a:r>
              <a:rPr lang="en-US" sz="24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400" err="1">
                <a:latin typeface="Arial"/>
                <a:cs typeface="Arial"/>
              </a:rPr>
              <a:t>Cambios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difíciles</a:t>
            </a:r>
            <a:r>
              <a:rPr lang="en-US" sz="2400">
                <a:latin typeface="Arial"/>
                <a:cs typeface="Arial"/>
              </a:rPr>
              <a:t> de </a:t>
            </a:r>
            <a:r>
              <a:rPr lang="en-US" sz="2400" err="1">
                <a:latin typeface="Arial"/>
                <a:cs typeface="Arial"/>
              </a:rPr>
              <a:t>implementar</a:t>
            </a:r>
            <a:r>
              <a:rPr lang="en-US" sz="2400">
                <a:latin typeface="Arial"/>
                <a:cs typeface="Arial"/>
              </a:rPr>
              <a:t>.</a:t>
            </a:r>
          </a:p>
          <a:p>
            <a:pPr algn="ctr"/>
            <a:endParaRPr lang="es-MX"/>
          </a:p>
        </p:txBody>
      </p:sp>
      <p:pic>
        <p:nvPicPr>
          <p:cNvPr id="7" name="Imagen 6" descr="Unidad IV.- Programación Extrema (xp) | Modelado Orientado a Objetos y  Desarrollo Agil">
            <a:extLst>
              <a:ext uri="{FF2B5EF4-FFF2-40B4-BE49-F238E27FC236}">
                <a16:creationId xmlns:a16="http://schemas.microsoft.com/office/drawing/2014/main" id="{8DA08CD8-7FB0-2F01-9042-37527F8D0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387" y="4395764"/>
            <a:ext cx="3609583" cy="246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94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D4ED6-6D7B-740C-B0B1-2DA948A4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90" y="-5774"/>
            <a:ext cx="8170603" cy="2191386"/>
          </a:xfrm>
        </p:spPr>
        <p:txBody>
          <a:bodyPr>
            <a:normAutofit/>
          </a:bodyPr>
          <a:lstStyle/>
          <a:p>
            <a:r>
              <a:rPr lang="es-MX" sz="3600">
                <a:latin typeface="Arial"/>
                <a:ea typeface="+mj-lt"/>
                <a:cs typeface="Arial"/>
              </a:rPr>
              <a:t>Cómo surge Y En qué contexto comenzó a utilizarse metodología programación extrema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6BE89DF-C8F2-FB47-DAD5-441AFBC59046}"/>
              </a:ext>
            </a:extLst>
          </p:cNvPr>
          <p:cNvSpPr>
            <a:spLocks noGrp="1"/>
          </p:cNvSpPr>
          <p:nvPr/>
        </p:nvSpPr>
        <p:spPr>
          <a:xfrm>
            <a:off x="136617" y="2189316"/>
            <a:ext cx="5680548" cy="46693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sz="1500">
              <a:latin typeface="Montserrat"/>
              <a:ea typeface="Lato"/>
              <a:cs typeface="Lato"/>
            </a:endParaRPr>
          </a:p>
          <a:p>
            <a:r>
              <a:rPr lang="es-MX" sz="2400">
                <a:latin typeface="Arial"/>
                <a:ea typeface="Lato"/>
                <a:cs typeface="Arial"/>
              </a:rPr>
              <a:t>Se creó en 1996, años antes de que se firmara el Manifiesto Ágil. Los fundamentos de XP vienen de las prácticas tomadas a cabo por Kent Beck en un proyecto para el pago de nóminas en Chrysler. </a:t>
            </a:r>
            <a:endParaRPr lang="es-MX" sz="2400">
              <a:latin typeface="Arial"/>
              <a:cs typeface="Arial"/>
            </a:endParaRPr>
          </a:p>
          <a:p>
            <a:r>
              <a:rPr lang="es-MX" sz="2400">
                <a:latin typeface="Arial"/>
                <a:ea typeface="Lato"/>
                <a:cs typeface="Arial"/>
              </a:rPr>
              <a:t>El trabajo de Kent en este proyecto se hizo popular por haber tenido éxito en tan sólo un año y dos meses cuando un equipo de 30 personas había fracasado durante años.</a:t>
            </a:r>
            <a:endParaRPr lang="es-MX" sz="2400">
              <a:latin typeface="Arial"/>
              <a:cs typeface="Arial"/>
            </a:endParaRPr>
          </a:p>
          <a:p>
            <a:pPr marL="0" indent="0">
              <a:buNone/>
            </a:pPr>
            <a:br>
              <a:rPr lang="en-US" sz="1500"/>
            </a:br>
            <a:endParaRPr lang="en-US" sz="1500"/>
          </a:p>
        </p:txBody>
      </p:sp>
      <p:pic>
        <p:nvPicPr>
          <p:cNvPr id="5" name="Imagen 4" descr="Book review (2/2): Extreme Programming Explained (Second Edition) de Kent  Beck y Cynthia Andres">
            <a:extLst>
              <a:ext uri="{FF2B5EF4-FFF2-40B4-BE49-F238E27FC236}">
                <a16:creationId xmlns:a16="http://schemas.microsoft.com/office/drawing/2014/main" id="{92C6C119-EF58-CFE9-35E3-C5D748A15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1" b="309"/>
          <a:stretch>
            <a:fillRect/>
          </a:stretch>
        </p:blipFill>
        <p:spPr>
          <a:xfrm>
            <a:off x="8599379" y="188673"/>
            <a:ext cx="2999429" cy="199213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925D2FA-CB8B-FE34-D0E7-6B494FC258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6" t="3691" r="206" b="1007"/>
          <a:stretch>
            <a:fillRect/>
          </a:stretch>
        </p:blipFill>
        <p:spPr>
          <a:xfrm>
            <a:off x="6872195" y="3036496"/>
            <a:ext cx="5086350" cy="297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637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DFDB09-258D-49BB-97FB-D11087AC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>
                <a:latin typeface="Arial"/>
                <a:ea typeface="+mj-lt"/>
                <a:cs typeface="Arial"/>
              </a:rPr>
              <a:t>Funcionamiento general</a:t>
            </a:r>
            <a:endParaRPr lang="es-MX" sz="4000">
              <a:latin typeface="Arial"/>
              <a:cs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E2A975-1CEA-C8F3-16E6-F4FE5F9E8D7F}"/>
              </a:ext>
            </a:extLst>
          </p:cNvPr>
          <p:cNvSpPr txBox="1"/>
          <p:nvPr/>
        </p:nvSpPr>
        <p:spPr>
          <a:xfrm>
            <a:off x="229644" y="2468671"/>
            <a:ext cx="609600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latin typeface="Arial"/>
                <a:cs typeface="Arial"/>
              </a:rPr>
              <a:t>Flujo</a:t>
            </a:r>
            <a:r>
              <a:rPr lang="en-US" sz="2400" b="1">
                <a:latin typeface="Arial"/>
                <a:cs typeface="Arial"/>
              </a:rPr>
              <a:t> general:</a:t>
            </a:r>
          </a:p>
          <a:p>
            <a:pPr>
              <a:buFont typeface=""/>
              <a:buAutoNum type="arabicPeriod"/>
            </a:pPr>
            <a:r>
              <a:rPr lang="en-US" sz="2400" err="1">
                <a:latin typeface="Arial"/>
                <a:cs typeface="Arial"/>
              </a:rPr>
              <a:t>Planeación</a:t>
            </a:r>
            <a:r>
              <a:rPr lang="en-US" sz="2400">
                <a:latin typeface="Arial"/>
                <a:cs typeface="Arial"/>
              </a:rPr>
              <a:t> del </a:t>
            </a:r>
            <a:r>
              <a:rPr lang="en-US" sz="2400" err="1">
                <a:latin typeface="Arial"/>
                <a:cs typeface="Arial"/>
              </a:rPr>
              <a:t>proyecto</a:t>
            </a:r>
            <a:r>
              <a:rPr lang="en-US" sz="2400">
                <a:latin typeface="Arial"/>
                <a:cs typeface="Arial"/>
              </a:rPr>
              <a:t>. </a:t>
            </a:r>
          </a:p>
          <a:p>
            <a:pPr>
              <a:buFont typeface=""/>
              <a:buAutoNum type="arabicPeriod"/>
            </a:pPr>
            <a:r>
              <a:rPr lang="en-US" sz="2400">
                <a:latin typeface="Arial"/>
                <a:cs typeface="Arial"/>
              </a:rPr>
              <a:t>Desarrollo </a:t>
            </a:r>
            <a:r>
              <a:rPr lang="en-US" sz="2400" err="1">
                <a:latin typeface="Arial"/>
                <a:cs typeface="Arial"/>
              </a:rPr>
              <a:t>en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pequeñas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entregas</a:t>
            </a:r>
            <a:r>
              <a:rPr lang="en-US" sz="2400">
                <a:latin typeface="Arial"/>
                <a:cs typeface="Arial"/>
              </a:rPr>
              <a:t>. </a:t>
            </a:r>
          </a:p>
          <a:p>
            <a:pPr>
              <a:buFont typeface=""/>
              <a:buAutoNum type="arabicPeriod"/>
            </a:pPr>
            <a:r>
              <a:rPr lang="en-US" sz="2400" err="1">
                <a:latin typeface="Arial"/>
                <a:cs typeface="Arial"/>
              </a:rPr>
              <a:t>Programación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en</a:t>
            </a:r>
            <a:r>
              <a:rPr lang="en-US" sz="2400">
                <a:latin typeface="Arial"/>
                <a:cs typeface="Arial"/>
              </a:rPr>
              <a:t> parejas. </a:t>
            </a:r>
          </a:p>
          <a:p>
            <a:pPr>
              <a:buFont typeface=""/>
              <a:buAutoNum type="arabicPeriod"/>
            </a:pPr>
            <a:r>
              <a:rPr lang="en-US" sz="2400" err="1">
                <a:latin typeface="Arial"/>
                <a:cs typeface="Arial"/>
              </a:rPr>
              <a:t>Pruebas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constantes</a:t>
            </a:r>
            <a:r>
              <a:rPr lang="en-US" sz="2400">
                <a:latin typeface="Arial"/>
                <a:cs typeface="Arial"/>
              </a:rPr>
              <a:t>. </a:t>
            </a:r>
          </a:p>
          <a:p>
            <a:pPr>
              <a:buFont typeface=""/>
              <a:buAutoNum type="arabicPeriod"/>
            </a:pPr>
            <a:r>
              <a:rPr lang="en-US" sz="2400" err="1">
                <a:latin typeface="Arial"/>
                <a:cs typeface="Arial"/>
              </a:rPr>
              <a:t>Retroalimentación</a:t>
            </a:r>
            <a:r>
              <a:rPr lang="en-US" sz="2400">
                <a:latin typeface="Arial"/>
                <a:cs typeface="Arial"/>
              </a:rPr>
              <a:t> del </a:t>
            </a:r>
            <a:r>
              <a:rPr lang="en-US" sz="2400" err="1">
                <a:latin typeface="Arial"/>
                <a:cs typeface="Arial"/>
              </a:rPr>
              <a:t>cliente</a:t>
            </a:r>
            <a:r>
              <a:rPr lang="en-US" sz="2400">
                <a:latin typeface="Arial"/>
                <a:cs typeface="Arial"/>
              </a:rPr>
              <a:t>. </a:t>
            </a:r>
          </a:p>
          <a:p>
            <a:pPr>
              <a:buFont typeface=""/>
              <a:buAutoNum type="arabicPeriod"/>
            </a:pPr>
            <a:r>
              <a:rPr lang="en-US" sz="2400">
                <a:latin typeface="Arial"/>
                <a:cs typeface="Arial"/>
              </a:rPr>
              <a:t>Mejora continua.</a:t>
            </a:r>
          </a:p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D4540B-A2D9-D1CD-0E19-3BE41853138C}"/>
              </a:ext>
            </a:extLst>
          </p:cNvPr>
          <p:cNvSpPr txBox="1"/>
          <p:nvPr/>
        </p:nvSpPr>
        <p:spPr>
          <a:xfrm>
            <a:off x="5908110" y="2468671"/>
            <a:ext cx="4363233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latin typeface="Arial"/>
                <a:cs typeface="Arial"/>
              </a:rPr>
              <a:t>Características</a:t>
            </a:r>
            <a:r>
              <a:rPr lang="en-US" sz="2400" b="1">
                <a:latin typeface="Arial"/>
                <a:cs typeface="Arial"/>
              </a:rPr>
              <a:t>:</a:t>
            </a:r>
          </a:p>
          <a:p>
            <a:pPr marL="457200" indent="-457200">
              <a:buAutoNum type="arabicPeriod"/>
            </a:pPr>
            <a:r>
              <a:rPr lang="en-US" sz="2400" err="1">
                <a:latin typeface="Arial"/>
                <a:cs typeface="Arial"/>
              </a:rPr>
              <a:t>Entregas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frecuentes</a:t>
            </a:r>
            <a:r>
              <a:rPr lang="en-US" sz="2400">
                <a:latin typeface="Arial"/>
                <a:cs typeface="Arial"/>
              </a:rPr>
              <a:t>. </a:t>
            </a:r>
          </a:p>
          <a:p>
            <a:pPr marL="457200" indent="-457200">
              <a:buAutoNum type="arabicPeriod"/>
            </a:pPr>
            <a:r>
              <a:rPr lang="en-US" sz="2400" err="1">
                <a:latin typeface="Arial"/>
                <a:cs typeface="Arial"/>
              </a:rPr>
              <a:t>Cambios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rápidos</a:t>
            </a:r>
            <a:r>
              <a:rPr lang="en-US" sz="2400">
                <a:latin typeface="Arial"/>
                <a:cs typeface="Arial"/>
              </a:rPr>
              <a:t>. </a:t>
            </a:r>
          </a:p>
          <a:p>
            <a:pPr marL="457200" indent="-457200">
              <a:buAutoNum type="arabicPeriod"/>
            </a:pPr>
            <a:r>
              <a:rPr lang="en-US" sz="2400" err="1">
                <a:latin typeface="Arial"/>
                <a:cs typeface="Arial"/>
              </a:rPr>
              <a:t>Trabajo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colaborativo</a:t>
            </a:r>
            <a:r>
              <a:rPr lang="en-US" sz="2400">
                <a:latin typeface="Arial"/>
                <a:cs typeface="Arial"/>
              </a:rPr>
              <a:t>.</a:t>
            </a:r>
          </a:p>
          <a:p>
            <a:pPr algn="ctr"/>
            <a:endParaRPr lang="es-MX"/>
          </a:p>
        </p:txBody>
      </p:sp>
      <p:pic>
        <p:nvPicPr>
          <p:cNvPr id="5" name="Imagen 4" descr="Resolver los problemas de la empresa - EOS implementer | Deutschland,  Schweiz, España">
            <a:extLst>
              <a:ext uri="{FF2B5EF4-FFF2-40B4-BE49-F238E27FC236}">
                <a16:creationId xmlns:a16="http://schemas.microsoft.com/office/drawing/2014/main" id="{BB6D8DEA-F9AB-11EA-4DAC-C22ABD326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9" b="-247"/>
          <a:stretch>
            <a:fillRect/>
          </a:stretch>
        </p:blipFill>
        <p:spPr>
          <a:xfrm>
            <a:off x="8751713" y="4111929"/>
            <a:ext cx="3039232" cy="265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854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B1D66-C8B5-A318-FB8D-E8852573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>
                <a:latin typeface="Arial"/>
                <a:ea typeface="+mj-lt"/>
                <a:cs typeface="Arial"/>
              </a:rPr>
              <a:t>Organización del equipo</a:t>
            </a:r>
            <a:endParaRPr lang="es-MX" sz="320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C93E727-16B8-E4CE-06C3-B5393D02358D}"/>
              </a:ext>
            </a:extLst>
          </p:cNvPr>
          <p:cNvSpPr txBox="1"/>
          <p:nvPr/>
        </p:nvSpPr>
        <p:spPr>
          <a:xfrm>
            <a:off x="250520" y="2499986"/>
            <a:ext cx="2400822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cs typeface="Arial"/>
              </a:rPr>
              <a:t>Cliente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Define necesidades.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Prioriza funciones.</a:t>
            </a:r>
          </a:p>
          <a:p>
            <a:pPr algn="ctr"/>
            <a:endParaRPr lang="es-MX" sz="2000">
              <a:latin typeface="Arial"/>
              <a:cs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363DF64-84C6-2BE8-2957-98957A671D6C}"/>
              </a:ext>
            </a:extLst>
          </p:cNvPr>
          <p:cNvSpPr txBox="1"/>
          <p:nvPr/>
        </p:nvSpPr>
        <p:spPr>
          <a:xfrm>
            <a:off x="2870548" y="2499986"/>
            <a:ext cx="281835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latin typeface="Arial"/>
                <a:cs typeface="Arial"/>
              </a:rPr>
              <a:t>Programadores</a:t>
            </a:r>
          </a:p>
          <a:p>
            <a:pPr>
              <a:buFont typeface=""/>
              <a:buChar char="•"/>
            </a:pPr>
            <a:r>
              <a:rPr lang="en-US" sz="2000" err="1">
                <a:latin typeface="Arial"/>
                <a:cs typeface="Arial"/>
              </a:rPr>
              <a:t>Desarrollan</a:t>
            </a:r>
            <a:r>
              <a:rPr lang="en-US" sz="2000">
                <a:latin typeface="Arial"/>
                <a:cs typeface="Arial"/>
              </a:rPr>
              <a:t> el </a:t>
            </a:r>
            <a:r>
              <a:rPr lang="en-US" sz="2000" err="1">
                <a:latin typeface="Arial"/>
                <a:cs typeface="Arial"/>
              </a:rPr>
              <a:t>sistema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>
              <a:buFont typeface=""/>
              <a:buChar char="•"/>
            </a:pPr>
            <a:r>
              <a:rPr lang="en-US" sz="2000" err="1">
                <a:latin typeface="Arial"/>
                <a:cs typeface="Arial"/>
              </a:rPr>
              <a:t>Trabajan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en</a:t>
            </a:r>
            <a:r>
              <a:rPr lang="en-US" sz="2000">
                <a:latin typeface="Arial"/>
                <a:cs typeface="Arial"/>
              </a:rPr>
              <a:t> parejas.</a:t>
            </a:r>
          </a:p>
          <a:p>
            <a:pPr algn="ctr"/>
            <a:endParaRPr lang="es-MX" sz="2000">
              <a:latin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E15111-BEF2-1FDD-7204-8EC837528D73}"/>
              </a:ext>
            </a:extLst>
          </p:cNvPr>
          <p:cNvSpPr txBox="1"/>
          <p:nvPr/>
        </p:nvSpPr>
        <p:spPr>
          <a:xfrm>
            <a:off x="5845479" y="2499986"/>
            <a:ext cx="268265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cs typeface="Arial"/>
              </a:rPr>
              <a:t>Tester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Realiza pruebas constantes.</a:t>
            </a:r>
          </a:p>
          <a:p>
            <a:pPr algn="ctr"/>
            <a:endParaRPr lang="es-MX" sz="2000">
              <a:latin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FC1A98D-610D-1F87-5D57-C63390FBA83D}"/>
              </a:ext>
            </a:extLst>
          </p:cNvPr>
          <p:cNvSpPr txBox="1"/>
          <p:nvPr/>
        </p:nvSpPr>
        <p:spPr>
          <a:xfrm>
            <a:off x="8528137" y="2510425"/>
            <a:ext cx="306887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cs typeface="Arial"/>
              </a:rPr>
              <a:t>Coach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Supervisa que XP se aplique correctamente.</a:t>
            </a:r>
          </a:p>
          <a:p>
            <a:pPr algn="ctr"/>
            <a:endParaRPr lang="es-MX" sz="2000">
              <a:latin typeface="Arial"/>
              <a:cs typeface="Arial"/>
            </a:endParaRPr>
          </a:p>
        </p:txBody>
      </p:sp>
      <p:pic>
        <p:nvPicPr>
          <p:cNvPr id="9" name="Imagen 8" descr="Participación del cliente: Qué es, tipos e importancia">
            <a:extLst>
              <a:ext uri="{FF2B5EF4-FFF2-40B4-BE49-F238E27FC236}">
                <a16:creationId xmlns:a16="http://schemas.microsoft.com/office/drawing/2014/main" id="{E491BF10-6660-1B8B-92BB-885733D7F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35" y="4139526"/>
            <a:ext cx="2239419" cy="1647825"/>
          </a:xfrm>
          <a:prstGeom prst="rect">
            <a:avLst/>
          </a:prstGeom>
        </p:spPr>
      </p:pic>
      <p:pic>
        <p:nvPicPr>
          <p:cNvPr id="11" name="Imagen 10" descr="Sabes cuál debe ser el perfil de un programador? - UTB">
            <a:extLst>
              <a:ext uri="{FF2B5EF4-FFF2-40B4-BE49-F238E27FC236}">
                <a16:creationId xmlns:a16="http://schemas.microsoft.com/office/drawing/2014/main" id="{6DD73809-737D-3797-F03D-EB5BCD988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167" y="4244824"/>
            <a:ext cx="2743200" cy="1666875"/>
          </a:xfrm>
          <a:prstGeom prst="rect">
            <a:avLst/>
          </a:prstGeom>
        </p:spPr>
      </p:pic>
      <p:pic>
        <p:nvPicPr>
          <p:cNvPr id="13" name="Imagen 12" descr="Imágenes de Tester test - Descarga gratuita en Freepik">
            <a:extLst>
              <a:ext uri="{FF2B5EF4-FFF2-40B4-BE49-F238E27FC236}">
                <a16:creationId xmlns:a16="http://schemas.microsoft.com/office/drawing/2014/main" id="{C6F8CCB4-2756-0516-3006-B996D7388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328" y="3829246"/>
            <a:ext cx="2143125" cy="2143125"/>
          </a:xfrm>
          <a:prstGeom prst="rect">
            <a:avLst/>
          </a:prstGeom>
        </p:spPr>
      </p:pic>
      <p:pic>
        <p:nvPicPr>
          <p:cNvPr id="3" name="Imagen 2" descr="Soy entrenador, ya trabajo con hipoxia y quiero mejorar mi forma de diseñar  y seguir sesiones - Hipoxia">
            <a:extLst>
              <a:ext uri="{FF2B5EF4-FFF2-40B4-BE49-F238E27FC236}">
                <a16:creationId xmlns:a16="http://schemas.microsoft.com/office/drawing/2014/main" id="{766DEF32-8E2D-4784-BBD5-E83DDC22E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931" y="3766616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89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4EC75-4189-61DD-0107-FBD24575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>
                <a:latin typeface="Arial"/>
                <a:ea typeface="+mj-lt"/>
                <a:cs typeface="Arial"/>
              </a:rPr>
              <a:t>Gestión de tareas y proyectos</a:t>
            </a:r>
            <a:endParaRPr lang="es-ES" sz="360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984BAD-39CF-338A-90ED-5D08A66FE764}"/>
              </a:ext>
            </a:extLst>
          </p:cNvPr>
          <p:cNvSpPr txBox="1"/>
          <p:nvPr/>
        </p:nvSpPr>
        <p:spPr>
          <a:xfrm>
            <a:off x="438411" y="2552178"/>
            <a:ext cx="303756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cs typeface="Arial"/>
              </a:rPr>
              <a:t>Organización del </a:t>
            </a:r>
            <a:r>
              <a:rPr lang="en-US" sz="2000" b="1" err="1">
                <a:latin typeface="Arial"/>
                <a:cs typeface="Arial"/>
              </a:rPr>
              <a:t>trabajo</a:t>
            </a:r>
            <a:r>
              <a:rPr lang="en-US" sz="2000" b="1">
                <a:latin typeface="Arial"/>
                <a:cs typeface="Arial"/>
              </a:rPr>
              <a:t>:</a:t>
            </a:r>
          </a:p>
          <a:p>
            <a:pPr>
              <a:buFont typeface=""/>
              <a:buChar char="•"/>
            </a:pPr>
            <a:r>
              <a:rPr lang="en-US" sz="2000" err="1">
                <a:latin typeface="Arial"/>
                <a:cs typeface="Arial"/>
              </a:rPr>
              <a:t>Historias</a:t>
            </a:r>
            <a:r>
              <a:rPr lang="en-US" sz="2000">
                <a:latin typeface="Arial"/>
                <a:cs typeface="Arial"/>
              </a:rPr>
              <a:t> de </a:t>
            </a:r>
            <a:r>
              <a:rPr lang="en-US" sz="2000" err="1">
                <a:latin typeface="Arial"/>
                <a:cs typeface="Arial"/>
              </a:rPr>
              <a:t>usuario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>
              <a:buFont typeface=""/>
              <a:buChar char="•"/>
            </a:pPr>
            <a:r>
              <a:rPr lang="en-US" sz="2000" err="1">
                <a:latin typeface="Arial"/>
                <a:cs typeface="Arial"/>
              </a:rPr>
              <a:t>Iteraciones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cortas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>
              <a:buFont typeface=""/>
              <a:buChar char="•"/>
            </a:pPr>
            <a:r>
              <a:rPr lang="en-US" sz="2000" err="1">
                <a:latin typeface="Arial"/>
                <a:cs typeface="Arial"/>
              </a:rPr>
              <a:t>Priorización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constante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endParaRPr lang="en-US" sz="2000" b="1">
              <a:latin typeface="Arial"/>
              <a:cs typeface="Arial"/>
            </a:endParaRPr>
          </a:p>
          <a:p>
            <a:pPr algn="ctr"/>
            <a:endParaRPr lang="es-ES" sz="2000">
              <a:latin typeface="Arial"/>
              <a:cs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77A74B-BD68-72E4-432D-AD83EDFE98C9}"/>
              </a:ext>
            </a:extLst>
          </p:cNvPr>
          <p:cNvSpPr txBox="1"/>
          <p:nvPr/>
        </p:nvSpPr>
        <p:spPr>
          <a:xfrm>
            <a:off x="4436302" y="2552178"/>
            <a:ext cx="330895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cs typeface="Arial"/>
              </a:rPr>
              <a:t>Seguimiento: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Revisión diaria del avance.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Retroalimentación continua.</a:t>
            </a:r>
          </a:p>
          <a:p>
            <a:pPr algn="ctr"/>
            <a:endParaRPr lang="es-ES" sz="2000">
              <a:latin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1766780-499F-C494-E153-3259C469FE89}"/>
              </a:ext>
            </a:extLst>
          </p:cNvPr>
          <p:cNvSpPr txBox="1"/>
          <p:nvPr/>
        </p:nvSpPr>
        <p:spPr>
          <a:xfrm>
            <a:off x="8288056" y="2552178"/>
            <a:ext cx="270353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cs typeface="Arial"/>
              </a:rPr>
              <a:t>Herramientas utilizadas: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Jira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Trello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GitHub </a:t>
            </a:r>
          </a:p>
          <a:p>
            <a:pPr algn="ctr"/>
            <a:endParaRPr lang="es-ES" sz="2000">
              <a:latin typeface="Arial"/>
              <a:cs typeface="Arial"/>
            </a:endParaRPr>
          </a:p>
        </p:txBody>
      </p:sp>
      <p:pic>
        <p:nvPicPr>
          <p:cNvPr id="8" name="Imagen 7" descr="Qué tan importante es mantener la organización en el trabajo?">
            <a:extLst>
              <a:ext uri="{FF2B5EF4-FFF2-40B4-BE49-F238E27FC236}">
                <a16:creationId xmlns:a16="http://schemas.microsoft.com/office/drawing/2014/main" id="{21B5638A-920F-6F8D-02F3-2D1A413C6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23" y="4488559"/>
            <a:ext cx="2619375" cy="1743075"/>
          </a:xfrm>
          <a:prstGeom prst="rect">
            <a:avLst/>
          </a:prstGeom>
        </p:spPr>
      </p:pic>
      <p:pic>
        <p:nvPicPr>
          <p:cNvPr id="10" name="Imagen 9" descr="Seguimiento de datos: Qué es, tipos y cómo realizarlo">
            <a:extLst>
              <a:ext uri="{FF2B5EF4-FFF2-40B4-BE49-F238E27FC236}">
                <a16:creationId xmlns:a16="http://schemas.microsoft.com/office/drawing/2014/main" id="{4DBB14CF-5E9F-A38C-2AC8-E23CAC4E6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455" y="4588376"/>
            <a:ext cx="2771775" cy="1647825"/>
          </a:xfrm>
          <a:prstGeom prst="rect">
            <a:avLst/>
          </a:prstGeom>
        </p:spPr>
      </p:pic>
      <p:pic>
        <p:nvPicPr>
          <p:cNvPr id="12" name="Imagen 11" descr="Así es GitHub, la (casi) desconocida plataforma para desarrolladores por la  que Microsoft ha pagado 6.400 MM€">
            <a:extLst>
              <a:ext uri="{FF2B5EF4-FFF2-40B4-BE49-F238E27FC236}">
                <a16:creationId xmlns:a16="http://schemas.microsoft.com/office/drawing/2014/main" id="{49B72B22-111A-BC1E-E8C2-02250545E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853" y="4486927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52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C900A-575F-E586-AD6E-8EBE3FA9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>
                <a:latin typeface="Arial"/>
                <a:ea typeface="+mj-lt"/>
                <a:cs typeface="Arial"/>
              </a:rPr>
              <a:t>Ventajas</a:t>
            </a:r>
            <a:endParaRPr lang="es-ES" sz="320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2ADDD6-054D-7106-03BE-B47A71D09248}"/>
              </a:ext>
            </a:extLst>
          </p:cNvPr>
          <p:cNvSpPr txBox="1"/>
          <p:nvPr/>
        </p:nvSpPr>
        <p:spPr>
          <a:xfrm>
            <a:off x="417534" y="2959274"/>
            <a:ext cx="6993698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latin typeface="Arial"/>
                <a:cs typeface="Arial"/>
              </a:rPr>
              <a:t>Beneficios</a:t>
            </a:r>
            <a:r>
              <a:rPr lang="en-US" sz="2000" b="1">
                <a:latin typeface="Arial"/>
                <a:cs typeface="Arial"/>
              </a:rPr>
              <a:t> de XP</a:t>
            </a:r>
            <a:endParaRPr lang="es-ES" sz="2000"/>
          </a:p>
          <a:p>
            <a:pPr marL="342900" indent="-342900">
              <a:buAutoNum type="arabicPeriod"/>
            </a:pPr>
            <a:r>
              <a:rPr lang="en-US" sz="2000">
                <a:latin typeface="Arial"/>
                <a:cs typeface="Arial"/>
              </a:rPr>
              <a:t>Mayor </a:t>
            </a:r>
            <a:r>
              <a:rPr lang="en-US" sz="2000" err="1">
                <a:latin typeface="Arial"/>
                <a:cs typeface="Arial"/>
              </a:rPr>
              <a:t>flexibilidad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000" err="1">
                <a:latin typeface="Arial"/>
                <a:cs typeface="Arial"/>
              </a:rPr>
              <a:t>Adaptación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rápida</a:t>
            </a:r>
            <a:r>
              <a:rPr lang="en-US" sz="2000">
                <a:latin typeface="Arial"/>
                <a:cs typeface="Arial"/>
              </a:rPr>
              <a:t> a </a:t>
            </a:r>
            <a:r>
              <a:rPr lang="en-US" sz="2000" err="1">
                <a:latin typeface="Arial"/>
                <a:cs typeface="Arial"/>
              </a:rPr>
              <a:t>cambios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000">
                <a:latin typeface="Arial"/>
                <a:cs typeface="Arial"/>
              </a:rPr>
              <a:t>Mejor </a:t>
            </a:r>
            <a:r>
              <a:rPr lang="en-US" sz="2000" err="1">
                <a:latin typeface="Arial"/>
                <a:cs typeface="Arial"/>
              </a:rPr>
              <a:t>calidad</a:t>
            </a:r>
            <a:r>
              <a:rPr lang="en-US" sz="2000">
                <a:latin typeface="Arial"/>
                <a:cs typeface="Arial"/>
              </a:rPr>
              <a:t> del software. </a:t>
            </a:r>
          </a:p>
          <a:p>
            <a:pPr marL="342900" indent="-342900">
              <a:buAutoNum type="arabicPeriod"/>
            </a:pPr>
            <a:r>
              <a:rPr lang="en-US" sz="2000" err="1">
                <a:latin typeface="Arial"/>
                <a:cs typeface="Arial"/>
              </a:rPr>
              <a:t>Entregas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rápidas</a:t>
            </a:r>
            <a:r>
              <a:rPr lang="en-US" sz="2000">
                <a:latin typeface="Arial"/>
                <a:cs typeface="Arial"/>
              </a:rPr>
              <a:t> y </a:t>
            </a:r>
            <a:r>
              <a:rPr lang="en-US" sz="2000" err="1">
                <a:latin typeface="Arial"/>
                <a:cs typeface="Arial"/>
              </a:rPr>
              <a:t>constantes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000" err="1">
                <a:latin typeface="Arial"/>
                <a:cs typeface="Arial"/>
              </a:rPr>
              <a:t>Comunicación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eficiente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000">
                <a:latin typeface="Arial"/>
                <a:cs typeface="Arial"/>
              </a:rPr>
              <a:t>Menos </a:t>
            </a:r>
            <a:r>
              <a:rPr lang="en-US" sz="2000" err="1">
                <a:latin typeface="Arial"/>
                <a:cs typeface="Arial"/>
              </a:rPr>
              <a:t>errores</a:t>
            </a:r>
            <a:r>
              <a:rPr lang="en-US" sz="2000">
                <a:latin typeface="Arial"/>
                <a:cs typeface="Arial"/>
              </a:rPr>
              <a:t> gracias a </a:t>
            </a:r>
            <a:r>
              <a:rPr lang="en-US" sz="2000" err="1">
                <a:latin typeface="Arial"/>
                <a:cs typeface="Arial"/>
              </a:rPr>
              <a:t>pruebas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continuas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000" err="1">
                <a:latin typeface="Arial"/>
                <a:cs typeface="Arial"/>
              </a:rPr>
              <a:t>Participación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activa</a:t>
            </a:r>
            <a:r>
              <a:rPr lang="en-US" sz="2000">
                <a:latin typeface="Arial"/>
                <a:cs typeface="Arial"/>
              </a:rPr>
              <a:t> del </a:t>
            </a:r>
            <a:r>
              <a:rPr lang="en-US" sz="2000" err="1">
                <a:latin typeface="Arial"/>
                <a:cs typeface="Arial"/>
              </a:rPr>
              <a:t>cliente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 algn="ctr"/>
            <a:endParaRPr lang="es-ES"/>
          </a:p>
        </p:txBody>
      </p:sp>
      <p:pic>
        <p:nvPicPr>
          <p:cNvPr id="5" name="Imagen 4" descr="Ventaja - Iconos gratis de márketing">
            <a:extLst>
              <a:ext uri="{FF2B5EF4-FFF2-40B4-BE49-F238E27FC236}">
                <a16:creationId xmlns:a16="http://schemas.microsoft.com/office/drawing/2014/main" id="{16E77126-C9E2-F4A0-1F01-A6AA81139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354" y="321959"/>
            <a:ext cx="1986550" cy="1694276"/>
          </a:xfrm>
          <a:prstGeom prst="rect">
            <a:avLst/>
          </a:prstGeom>
        </p:spPr>
      </p:pic>
      <p:pic>
        <p:nvPicPr>
          <p:cNvPr id="7" name="Imagen 6" descr="Extreme Programming - XP | Cátedra Viewnext USAL">
            <a:extLst>
              <a:ext uri="{FF2B5EF4-FFF2-40B4-BE49-F238E27FC236}">
                <a16:creationId xmlns:a16="http://schemas.microsoft.com/office/drawing/2014/main" id="{C00A8AA8-FD10-8512-16A4-118EE1166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908" y="3432653"/>
            <a:ext cx="4913856" cy="270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21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468F0-B752-C1C6-5B0A-2BF492280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3600">
                <a:latin typeface="Arial"/>
                <a:cs typeface="Arial"/>
              </a:rPr>
              <a:t>Desventajas</a:t>
            </a:r>
            <a:endParaRPr lang="es-ES" sz="360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C2B5D8-4988-8A76-908E-07100E76E91B}"/>
              </a:ext>
            </a:extLst>
          </p:cNvPr>
          <p:cNvSpPr txBox="1"/>
          <p:nvPr/>
        </p:nvSpPr>
        <p:spPr>
          <a:xfrm>
            <a:off x="292273" y="3147165"/>
            <a:ext cx="6096000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latin typeface="Arial"/>
                <a:cs typeface="Arial"/>
              </a:rPr>
              <a:t>Limitaciones</a:t>
            </a:r>
            <a:r>
              <a:rPr lang="en-US" sz="2000" b="1">
                <a:latin typeface="Arial"/>
                <a:cs typeface="Arial"/>
              </a:rPr>
              <a:t> de XP</a:t>
            </a:r>
          </a:p>
          <a:p>
            <a:pPr marL="342900" indent="-342900">
              <a:buAutoNum type="arabicPeriod"/>
            </a:pPr>
            <a:r>
              <a:rPr lang="en-US" sz="2000" err="1">
                <a:latin typeface="Arial"/>
                <a:cs typeface="Arial"/>
              </a:rPr>
              <a:t>Requiere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mucha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participación</a:t>
            </a:r>
            <a:r>
              <a:rPr lang="en-US" sz="2000">
                <a:latin typeface="Arial"/>
                <a:cs typeface="Arial"/>
              </a:rPr>
              <a:t> del </a:t>
            </a:r>
            <a:r>
              <a:rPr lang="en-US" sz="2000" err="1">
                <a:latin typeface="Arial"/>
                <a:cs typeface="Arial"/>
              </a:rPr>
              <a:t>cliente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000" err="1">
                <a:latin typeface="Arial"/>
                <a:cs typeface="Arial"/>
              </a:rPr>
              <a:t>Puede</a:t>
            </a:r>
            <a:r>
              <a:rPr lang="en-US" sz="2000">
                <a:latin typeface="Arial"/>
                <a:cs typeface="Arial"/>
              </a:rPr>
              <a:t> ser </a:t>
            </a:r>
            <a:r>
              <a:rPr lang="en-US" sz="2000" err="1">
                <a:latin typeface="Arial"/>
                <a:cs typeface="Arial"/>
              </a:rPr>
              <a:t>difícil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en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equipos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grandes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000" err="1">
                <a:latin typeface="Arial"/>
                <a:cs typeface="Arial"/>
              </a:rPr>
              <a:t>Necesita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programadores</a:t>
            </a:r>
            <a:r>
              <a:rPr lang="en-US" sz="2000">
                <a:latin typeface="Arial"/>
                <a:cs typeface="Arial"/>
              </a:rPr>
              <a:t> con </a:t>
            </a:r>
            <a:r>
              <a:rPr lang="en-US" sz="2000" err="1">
                <a:latin typeface="Arial"/>
                <a:cs typeface="Arial"/>
              </a:rPr>
              <a:t>experiencia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000">
                <a:latin typeface="Arial"/>
                <a:cs typeface="Arial"/>
              </a:rPr>
              <a:t>Poca </a:t>
            </a:r>
            <a:r>
              <a:rPr lang="en-US" sz="2000" err="1">
                <a:latin typeface="Arial"/>
                <a:cs typeface="Arial"/>
              </a:rPr>
              <a:t>documentación</a:t>
            </a:r>
            <a:r>
              <a:rPr lang="en-US" sz="2000">
                <a:latin typeface="Arial"/>
                <a:cs typeface="Arial"/>
              </a:rPr>
              <a:t> formal. </a:t>
            </a:r>
          </a:p>
          <a:p>
            <a:pPr marL="342900" indent="-342900">
              <a:buAutoNum type="arabicPeriod"/>
            </a:pPr>
            <a:r>
              <a:rPr lang="en-US" sz="2000" err="1">
                <a:latin typeface="Arial"/>
                <a:cs typeface="Arial"/>
              </a:rPr>
              <a:t>Reuniones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constantes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pueden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consumir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tiempo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2000">
                <a:latin typeface="Arial"/>
                <a:cs typeface="Arial"/>
              </a:rPr>
              <a:t>No </a:t>
            </a:r>
            <a:r>
              <a:rPr lang="en-US" sz="2000" err="1">
                <a:latin typeface="Arial"/>
                <a:cs typeface="Arial"/>
              </a:rPr>
              <a:t>siempre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funciona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en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proyectos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muy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grandes</a:t>
            </a:r>
            <a:r>
              <a:rPr lang="en-US" sz="2000">
                <a:latin typeface="Arial"/>
                <a:cs typeface="Arial"/>
              </a:rPr>
              <a:t>.</a:t>
            </a:r>
          </a:p>
          <a:p>
            <a:pPr algn="ctr"/>
            <a:endParaRPr lang="es-ES"/>
          </a:p>
        </p:txBody>
      </p:sp>
      <p:pic>
        <p:nvPicPr>
          <p:cNvPr id="5" name="Imagen 4" descr="Desventaja - Iconos gratis de márketing">
            <a:extLst>
              <a:ext uri="{FF2B5EF4-FFF2-40B4-BE49-F238E27FC236}">
                <a16:creationId xmlns:a16="http://schemas.microsoft.com/office/drawing/2014/main" id="{2D56EC5C-27E6-6BD3-0A51-22CDDBC4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547" y="196698"/>
            <a:ext cx="2017865" cy="1955235"/>
          </a:xfrm>
          <a:prstGeom prst="rect">
            <a:avLst/>
          </a:prstGeom>
        </p:spPr>
      </p:pic>
      <p:pic>
        <p:nvPicPr>
          <p:cNvPr id="7" name="Imagen 6" descr="Importancia de expresar las limitaciones del estudio – Comunicar. Escuela  de Autores">
            <a:extLst>
              <a:ext uri="{FF2B5EF4-FFF2-40B4-BE49-F238E27FC236}">
                <a16:creationId xmlns:a16="http://schemas.microsoft.com/office/drawing/2014/main" id="{C18179DA-CD01-F79D-2B1F-D45C00241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246" y="2795849"/>
            <a:ext cx="3406166" cy="341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71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904C3-838F-0E9A-F8AF-A4722A55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>
                <a:latin typeface="Arial"/>
                <a:ea typeface="+mj-lt"/>
                <a:cs typeface="Arial"/>
              </a:rPr>
              <a:t>Casos de uso</a:t>
            </a:r>
            <a:endParaRPr lang="es-ES" sz="360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52955B3-E57A-C045-5D7C-FE2FFD7814E4}"/>
              </a:ext>
            </a:extLst>
          </p:cNvPr>
          <p:cNvSpPr txBox="1"/>
          <p:nvPr/>
        </p:nvSpPr>
        <p:spPr>
          <a:xfrm>
            <a:off x="427972" y="2343411"/>
            <a:ext cx="3027124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cs typeface="Arial"/>
              </a:rPr>
              <a:t>¿</a:t>
            </a:r>
            <a:r>
              <a:rPr lang="en-US" sz="2000" b="1" err="1">
                <a:latin typeface="Arial"/>
                <a:cs typeface="Arial"/>
              </a:rPr>
              <a:t>Dónde</a:t>
            </a:r>
            <a:r>
              <a:rPr lang="en-US" sz="2000" b="1">
                <a:latin typeface="Arial"/>
                <a:cs typeface="Arial"/>
              </a:rPr>
              <a:t> se </a:t>
            </a:r>
            <a:r>
              <a:rPr lang="en-US" sz="2000" b="1" err="1">
                <a:latin typeface="Arial"/>
                <a:cs typeface="Arial"/>
              </a:rPr>
              <a:t>utiliza</a:t>
            </a:r>
            <a:r>
              <a:rPr lang="en-US" sz="2000" b="1">
                <a:latin typeface="Arial"/>
                <a:cs typeface="Arial"/>
              </a:rPr>
              <a:t> XP?</a:t>
            </a:r>
          </a:p>
          <a:p>
            <a:r>
              <a:rPr lang="en-US" sz="2000">
                <a:latin typeface="Arial"/>
                <a:cs typeface="Arial"/>
              </a:rPr>
              <a:t>XP </a:t>
            </a:r>
            <a:r>
              <a:rPr lang="en-US" sz="2000" err="1">
                <a:latin typeface="Arial"/>
                <a:cs typeface="Arial"/>
              </a:rPr>
              <a:t>funciona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mejor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en</a:t>
            </a:r>
            <a:r>
              <a:rPr lang="en-US" sz="2000">
                <a:latin typeface="Arial"/>
                <a:cs typeface="Arial"/>
              </a:rPr>
              <a:t>:</a:t>
            </a:r>
          </a:p>
          <a:p>
            <a:pPr>
              <a:buFont typeface=""/>
              <a:buChar char="•"/>
            </a:pPr>
            <a:r>
              <a:rPr lang="en-US" sz="2000" err="1">
                <a:latin typeface="Arial"/>
                <a:cs typeface="Arial"/>
              </a:rPr>
              <a:t>Aplicaciones</a:t>
            </a:r>
            <a:r>
              <a:rPr lang="en-US" sz="2000">
                <a:latin typeface="Arial"/>
                <a:cs typeface="Arial"/>
              </a:rPr>
              <a:t> web.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Apps </a:t>
            </a:r>
            <a:r>
              <a:rPr lang="en-US" sz="2000" err="1">
                <a:latin typeface="Arial"/>
                <a:cs typeface="Arial"/>
              </a:rPr>
              <a:t>móviles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Ecommerce. </a:t>
            </a:r>
          </a:p>
          <a:p>
            <a:pPr>
              <a:buFont typeface=""/>
              <a:buChar char="•"/>
            </a:pPr>
            <a:r>
              <a:rPr lang="en-US" sz="2000" err="1">
                <a:latin typeface="Arial"/>
                <a:cs typeface="Arial"/>
              </a:rPr>
              <a:t>Plataformas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educativas</a:t>
            </a:r>
            <a:r>
              <a:rPr lang="en-US" sz="2000">
                <a:latin typeface="Arial"/>
                <a:cs typeface="Arial"/>
              </a:rPr>
              <a:t>.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Startups </a:t>
            </a:r>
            <a:r>
              <a:rPr lang="en-US" sz="2000" err="1">
                <a:latin typeface="Arial"/>
                <a:cs typeface="Arial"/>
              </a:rPr>
              <a:t>tecnológicas</a:t>
            </a:r>
            <a:r>
              <a:rPr lang="en-US" sz="2000">
                <a:latin typeface="Arial"/>
                <a:cs typeface="Arial"/>
              </a:rPr>
              <a:t>.</a:t>
            </a:r>
          </a:p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27323B-FEF7-783E-93EE-4BB6820CC9B1}"/>
              </a:ext>
            </a:extLst>
          </p:cNvPr>
          <p:cNvSpPr txBox="1"/>
          <p:nvPr/>
        </p:nvSpPr>
        <p:spPr>
          <a:xfrm>
            <a:off x="3893507" y="2353849"/>
            <a:ext cx="3027124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/>
                <a:cs typeface="Arial"/>
              </a:rPr>
              <a:t>Empresas </a:t>
            </a:r>
            <a:r>
              <a:rPr lang="en-US" sz="2000" b="1" dirty="0" err="1">
                <a:latin typeface="Arial"/>
                <a:cs typeface="Arial"/>
              </a:rPr>
              <a:t>que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dirty="0" err="1">
                <a:latin typeface="Arial"/>
                <a:cs typeface="Arial"/>
              </a:rPr>
              <a:t>podrían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dirty="0" err="1">
                <a:latin typeface="Arial"/>
                <a:cs typeface="Arial"/>
              </a:rPr>
              <a:t>utilizarla</a:t>
            </a:r>
            <a:r>
              <a:rPr lang="en-US" sz="2000" b="1" dirty="0">
                <a:latin typeface="Arial"/>
                <a:cs typeface="Arial"/>
              </a:rPr>
              <a:t>: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Spotify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Netflix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Amazon</a:t>
            </a:r>
          </a:p>
          <a:p>
            <a:pPr algn="ctr"/>
            <a:endParaRPr lang="es-ES"/>
          </a:p>
        </p:txBody>
      </p:sp>
      <p:pic>
        <p:nvPicPr>
          <p:cNvPr id="8" name="Imagen 7" descr="Tipos de aplicaciones móviles - Los 3 titanes del sector">
            <a:extLst>
              <a:ext uri="{FF2B5EF4-FFF2-40B4-BE49-F238E27FC236}">
                <a16:creationId xmlns:a16="http://schemas.microsoft.com/office/drawing/2014/main" id="{C4B54C5D-359B-8CCC-0E95-B17EBEBEE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17" y="4864340"/>
            <a:ext cx="2628900" cy="1743075"/>
          </a:xfrm>
          <a:prstGeom prst="rect">
            <a:avLst/>
          </a:prstGeom>
        </p:spPr>
      </p:pic>
      <p:pic>
        <p:nvPicPr>
          <p:cNvPr id="10" name="Imagen 9" descr="Cómo vender en Amazon México: guía completa 2026">
            <a:extLst>
              <a:ext uri="{FF2B5EF4-FFF2-40B4-BE49-F238E27FC236}">
                <a16:creationId xmlns:a16="http://schemas.microsoft.com/office/drawing/2014/main" id="{E79478DF-54AE-BF28-E355-8E02C8584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613" y="4728641"/>
            <a:ext cx="2619375" cy="174307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F043FF5-F3CD-1172-A42D-1117198282B5}"/>
              </a:ext>
            </a:extLst>
          </p:cNvPr>
          <p:cNvSpPr txBox="1"/>
          <p:nvPr/>
        </p:nvSpPr>
        <p:spPr>
          <a:xfrm>
            <a:off x="7348603" y="2353849"/>
            <a:ext cx="3883069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/>
                <a:cs typeface="Arial"/>
              </a:rPr>
              <a:t>Sistemas </a:t>
            </a:r>
            <a:r>
              <a:rPr lang="en-US" sz="2000" b="1" dirty="0" err="1">
                <a:latin typeface="Arial"/>
                <a:cs typeface="Arial"/>
              </a:rPr>
              <a:t>beneficiados</a:t>
            </a:r>
            <a:r>
              <a:rPr lang="en-US" sz="2000" b="1" dirty="0">
                <a:latin typeface="Arial"/>
                <a:cs typeface="Arial"/>
              </a:rPr>
              <a:t>:</a:t>
            </a:r>
          </a:p>
          <a:p>
            <a:pPr>
              <a:buFont typeface=""/>
              <a:buChar char="•"/>
            </a:pPr>
            <a:r>
              <a:rPr lang="en-US" sz="2000" dirty="0">
                <a:latin typeface="Arial"/>
                <a:cs typeface="Arial"/>
              </a:rPr>
              <a:t>Sistemas </a:t>
            </a:r>
            <a:r>
              <a:rPr lang="en-US" sz="2000" dirty="0" err="1">
                <a:latin typeface="Arial"/>
                <a:cs typeface="Arial"/>
              </a:rPr>
              <a:t>que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cambian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frecuentemente</a:t>
            </a:r>
            <a:r>
              <a:rPr lang="en-US" sz="2000" dirty="0">
                <a:latin typeface="Arial"/>
                <a:cs typeface="Arial"/>
              </a:rPr>
              <a:t>. </a:t>
            </a:r>
          </a:p>
          <a:p>
            <a:pPr>
              <a:buFont typeface=""/>
              <a:buChar char="•"/>
            </a:pPr>
            <a:r>
              <a:rPr lang="en-US" sz="2000" dirty="0" err="1">
                <a:latin typeface="Arial"/>
                <a:cs typeface="Arial"/>
              </a:rPr>
              <a:t>Proyectos</a:t>
            </a:r>
            <a:r>
              <a:rPr lang="en-US" sz="2000" dirty="0">
                <a:latin typeface="Arial"/>
                <a:cs typeface="Arial"/>
              </a:rPr>
              <a:t> con </a:t>
            </a:r>
            <a:r>
              <a:rPr lang="en-US" sz="2000" dirty="0" err="1">
                <a:latin typeface="Arial"/>
                <a:cs typeface="Arial"/>
              </a:rPr>
              <a:t>entregas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rápidas</a:t>
            </a:r>
            <a:r>
              <a:rPr lang="en-US" sz="2000" dirty="0">
                <a:latin typeface="Arial"/>
                <a:cs typeface="Arial"/>
              </a:rPr>
              <a:t>. </a:t>
            </a:r>
          </a:p>
          <a:p>
            <a:pPr algn="ctr"/>
            <a:endParaRPr lang="es-ES"/>
          </a:p>
        </p:txBody>
      </p:sp>
      <p:pic>
        <p:nvPicPr>
          <p:cNvPr id="13" name="Imagen 12" descr="Colaboracción: Cinco claves para cambiar sistemas - Inncontext">
            <a:extLst>
              <a:ext uri="{FF2B5EF4-FFF2-40B4-BE49-F238E27FC236}">
                <a16:creationId xmlns:a16="http://schemas.microsoft.com/office/drawing/2014/main" id="{6A561F9F-208B-B833-9F42-F8E3EF70D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612" y="4869166"/>
            <a:ext cx="382905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43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57440-6619-8D7D-413D-3BB14D48C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>
                <a:latin typeface="Arial"/>
                <a:ea typeface="+mj-lt"/>
                <a:cs typeface="Arial"/>
              </a:rPr>
              <a:t>Ejemplo práctico: </a:t>
            </a:r>
            <a:r>
              <a:rPr lang="es-MX" sz="3600">
                <a:latin typeface="Arial"/>
                <a:cs typeface="Arial"/>
              </a:rPr>
              <a:t>Aplicación de XP en una App de Compras</a:t>
            </a:r>
            <a:endParaRPr lang="es-ES" sz="360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E480C6C-1DC9-7D48-B8E8-63A198C218C4}"/>
              </a:ext>
            </a:extLst>
          </p:cNvPr>
          <p:cNvSpPr txBox="1"/>
          <p:nvPr/>
        </p:nvSpPr>
        <p:spPr>
          <a:xfrm>
            <a:off x="960329" y="2416479"/>
            <a:ext cx="4300603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cs typeface="Arial"/>
              </a:rPr>
              <a:t>Cómo se aplicaría XP: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Desarrollo por módulos pequeños.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Entregas semanales.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Cliente revisa avances constantemente.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Programación en parejas.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Pruebas automáticas continuas.</a:t>
            </a:r>
          </a:p>
          <a:p>
            <a:pPr algn="ctr"/>
            <a:endParaRPr lang="es-ES" sz="2000">
              <a:latin typeface="Arial"/>
              <a:cs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CCA4D21-317D-A10E-D0E4-97C88FEB0ED4}"/>
              </a:ext>
            </a:extLst>
          </p:cNvPr>
          <p:cNvSpPr txBox="1"/>
          <p:nvPr/>
        </p:nvSpPr>
        <p:spPr>
          <a:xfrm>
            <a:off x="7150274" y="2416480"/>
            <a:ext cx="4081398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cs typeface="Arial"/>
              </a:rPr>
              <a:t>Resultado esperado: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Aplicación funcional en menor tiempo.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Menos errores. </a:t>
            </a:r>
          </a:p>
          <a:p>
            <a:pPr>
              <a:buFont typeface=""/>
              <a:buChar char="•"/>
            </a:pPr>
            <a:r>
              <a:rPr lang="en-US" sz="2000">
                <a:latin typeface="Arial"/>
                <a:cs typeface="Arial"/>
              </a:rPr>
              <a:t>Mejor experiencia para el usuario.</a:t>
            </a:r>
          </a:p>
          <a:p>
            <a:pPr algn="ctr"/>
            <a:endParaRPr lang="es-ES" sz="2000">
              <a:latin typeface="Arial"/>
              <a:cs typeface="Arial"/>
            </a:endParaRPr>
          </a:p>
        </p:txBody>
      </p:sp>
      <p:pic>
        <p:nvPicPr>
          <p:cNvPr id="7" name="Imagen 6" descr="Las 10 mejores plantillas de cronograma de entregables con ejemplos y  muestras">
            <a:extLst>
              <a:ext uri="{FF2B5EF4-FFF2-40B4-BE49-F238E27FC236}">
                <a16:creationId xmlns:a16="http://schemas.microsoft.com/office/drawing/2014/main" id="{B34901AA-3ECB-BD68-00A9-6FCAE703C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23" y="4800079"/>
            <a:ext cx="3316787" cy="1892473"/>
          </a:xfrm>
          <a:prstGeom prst="rect">
            <a:avLst/>
          </a:prstGeom>
        </p:spPr>
      </p:pic>
      <p:pic>
        <p:nvPicPr>
          <p:cNvPr id="9" name="Imagen 8" descr="Menor Tiempo Límite De Tiempo Paro Icono Vector Conjunto Blanco Y Negro  Ilustración del Vector - Ilustración de icono, después: 258154350">
            <a:extLst>
              <a:ext uri="{FF2B5EF4-FFF2-40B4-BE49-F238E27FC236}">
                <a16:creationId xmlns:a16="http://schemas.microsoft.com/office/drawing/2014/main" id="{A2B41C79-0B35-63F9-98EE-0E95DFFF5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817" y="4973550"/>
            <a:ext cx="382905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84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9576F-B4A8-BD73-673E-EF2E2EF9B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400">
                <a:latin typeface="Arial"/>
                <a:ea typeface="+mj-lt"/>
                <a:cs typeface="Arial"/>
              </a:rPr>
              <a:t>Comparativa</a:t>
            </a:r>
            <a:endParaRPr lang="es-MX" sz="4400">
              <a:latin typeface="Arial"/>
              <a:cs typeface="Arial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1AB5D66-E223-E184-7115-97DF3F9FA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137421"/>
              </p:ext>
            </p:extLst>
          </p:nvPr>
        </p:nvGraphicFramePr>
        <p:xfrm>
          <a:off x="0" y="2233808"/>
          <a:ext cx="12192000" cy="265384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43094175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997509035"/>
                    </a:ext>
                  </a:extLst>
                </a:gridCol>
              </a:tblGrid>
              <a:tr h="44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>
                          <a:latin typeface="Arial"/>
                          <a:cs typeface="Arial"/>
                        </a:rPr>
                        <a:t>XP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>
                          <a:latin typeface="Arial"/>
                          <a:cs typeface="Arial"/>
                        </a:rPr>
                        <a:t>Cascada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138179"/>
                  </a:ext>
                </a:extLst>
              </a:tr>
              <a:tr h="44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/>
                          <a:cs typeface="Arial"/>
                        </a:rPr>
                        <a:t>Flexible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/>
                          <a:cs typeface="Arial"/>
                        </a:rPr>
                        <a:t>Rígida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824448"/>
                  </a:ext>
                </a:extLst>
              </a:tr>
              <a:tr h="44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/>
                          <a:cs typeface="Arial"/>
                        </a:rPr>
                        <a:t>Cambios rápidos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/>
                          <a:cs typeface="Arial"/>
                        </a:rPr>
                        <a:t>Cambios difíciles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199194"/>
                  </a:ext>
                </a:extLst>
              </a:tr>
              <a:tr h="44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/>
                          <a:cs typeface="Arial"/>
                        </a:rPr>
                        <a:t>Entregas frecuentes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/>
                          <a:cs typeface="Arial"/>
                        </a:rPr>
                        <a:t>Una sola entrega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8347970"/>
                  </a:ext>
                </a:extLst>
              </a:tr>
              <a:tr h="44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/>
                          <a:cs typeface="Arial"/>
                        </a:rPr>
                        <a:t>Cliente participa constantemente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/>
                          <a:cs typeface="Arial"/>
                        </a:rPr>
                        <a:t>Poca participación del cliente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775491"/>
                  </a:ext>
                </a:extLst>
              </a:tr>
              <a:tr h="44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/>
                          <a:cs typeface="Arial"/>
                        </a:rPr>
                        <a:t>Desarrollo por iteraciones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/>
                          <a:cs typeface="Arial"/>
                        </a:rPr>
                        <a:t>Desarrollo por etapas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039211"/>
                  </a:ext>
                </a:extLst>
              </a:tr>
            </a:tbl>
          </a:graphicData>
        </a:graphic>
      </p:graphicFrame>
      <p:pic>
        <p:nvPicPr>
          <p:cNvPr id="6" name="Imagen 5" descr="El modelo en cascada en el desarrollo de software - IONOS México">
            <a:extLst>
              <a:ext uri="{FF2B5EF4-FFF2-40B4-BE49-F238E27FC236}">
                <a16:creationId xmlns:a16="http://schemas.microsoft.com/office/drawing/2014/main" id="{2F6D39D4-93E3-2428-A0BE-ED8C20954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788" y="5094178"/>
            <a:ext cx="2781300" cy="1638300"/>
          </a:xfrm>
          <a:prstGeom prst="rect">
            <a:avLst/>
          </a:prstGeom>
        </p:spPr>
      </p:pic>
      <p:pic>
        <p:nvPicPr>
          <p:cNvPr id="7" name="Imagen 6" descr="Clases online de Fundamentos de Extreme Programming para desarrollo de  software | LinkedIn Learning, antes Lynda.com">
            <a:extLst>
              <a:ext uri="{FF2B5EF4-FFF2-40B4-BE49-F238E27FC236}">
                <a16:creationId xmlns:a16="http://schemas.microsoft.com/office/drawing/2014/main" id="{E4032FC1-9A7E-8CBC-9983-1A1776DE1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14" y="5092352"/>
            <a:ext cx="3556869" cy="163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875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04B69-EBDC-89D8-5F15-E2509DD85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400">
                <a:latin typeface="Arial"/>
                <a:ea typeface="+mj-lt"/>
                <a:cs typeface="Arial"/>
              </a:rPr>
              <a:t>Conclusiones</a:t>
            </a:r>
            <a:endParaRPr lang="es-MX" sz="4400">
              <a:latin typeface="Arial"/>
              <a:cs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AAAECE-B940-AB54-3CBE-97F8E6FAA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s-MX" sz="2400" dirty="0">
                <a:latin typeface="Arial"/>
                <a:ea typeface="+mn-lt"/>
                <a:cs typeface="Arial"/>
              </a:rPr>
              <a:t>La </a:t>
            </a:r>
            <a:r>
              <a:rPr lang="es-MX" sz="2400">
                <a:latin typeface="Arial"/>
                <a:ea typeface="+mn-lt"/>
                <a:cs typeface="Arial"/>
              </a:rPr>
              <a:t>metodología</a:t>
            </a:r>
            <a:r>
              <a:rPr lang="es-MX" sz="2400" dirty="0">
                <a:latin typeface="Arial"/>
                <a:ea typeface="+mn-lt"/>
                <a:cs typeface="Arial"/>
              </a:rPr>
              <a:t> XP ayuda a desarrollar software de manera rápida y eficiente. </a:t>
            </a:r>
            <a:endParaRPr lang="es-MX" sz="2400" dirty="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s-MX" sz="2400">
                <a:latin typeface="Arial"/>
                <a:ea typeface="+mn-lt"/>
                <a:cs typeface="Arial"/>
              </a:rPr>
              <a:t>La comunicación y colaboración son fundamentales. </a:t>
            </a:r>
            <a:endParaRPr lang="es-MX" sz="240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s-MX" sz="2400">
                <a:latin typeface="Arial"/>
                <a:ea typeface="+mn-lt"/>
                <a:cs typeface="Arial"/>
              </a:rPr>
              <a:t>Las pruebas continuas mejoran la calidad. </a:t>
            </a:r>
            <a:endParaRPr lang="es-MX" sz="240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s-MX" sz="2400">
                <a:latin typeface="Arial"/>
                <a:ea typeface="+mn-lt"/>
                <a:cs typeface="Arial"/>
              </a:rPr>
              <a:t>Es ideal para proyectos con muchos cambios. </a:t>
            </a:r>
            <a:endParaRPr lang="es-MX" sz="240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s-MX" sz="2400">
                <a:latin typeface="Arial"/>
                <a:ea typeface="+mn-lt"/>
                <a:cs typeface="Arial"/>
              </a:rPr>
              <a:t>Recomendada para equipos pequeños y medianos que necesitan flexibilidad.</a:t>
            </a:r>
            <a:endParaRPr lang="es-MX" sz="2400">
              <a:latin typeface="Arial"/>
              <a:cs typeface="Arial"/>
            </a:endParaRPr>
          </a:p>
          <a:p>
            <a:endParaRPr lang="es-MX" dirty="0"/>
          </a:p>
        </p:txBody>
      </p:sp>
      <p:pic>
        <p:nvPicPr>
          <p:cNvPr id="4" name="Imagen 3" descr="Conclusiones - Cursos Multimedia SL">
            <a:extLst>
              <a:ext uri="{FF2B5EF4-FFF2-40B4-BE49-F238E27FC236}">
                <a16:creationId xmlns:a16="http://schemas.microsoft.com/office/drawing/2014/main" id="{D8B183AC-9EE2-E4FB-2A7E-98F87213E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672" y="420927"/>
            <a:ext cx="307657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01487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JuxtaposeVTI</vt:lpstr>
      <vt:lpstr>Alumno: Gustavo Enrique Inurreta Brito Materia: Proyecto de una Plataforma Virtual Mario Alonso Segovia Gutiérrez  Fecha: 29/5/2026</vt:lpstr>
      <vt:lpstr>¿Qué es la Metodología programación extrema?</vt:lpstr>
      <vt:lpstr>Cómo surge Y En qué contexto comenzó a utilizarse metodología programación extrema</vt:lpstr>
      <vt:lpstr>Funcionamiento general</vt:lpstr>
      <vt:lpstr>Organización del equipo</vt:lpstr>
      <vt:lpstr>Gestión de tareas y proyectos</vt:lpstr>
      <vt:lpstr>Ventajas</vt:lpstr>
      <vt:lpstr>Desventajas</vt:lpstr>
      <vt:lpstr>Casos de uso</vt:lpstr>
      <vt:lpstr>Ejemplo práctico: Aplicación de XP en una App de Compras</vt:lpstr>
      <vt:lpstr>Comparativa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70</cp:revision>
  <dcterms:created xsi:type="dcterms:W3CDTF">2026-05-29T03:05:37Z</dcterms:created>
  <dcterms:modified xsi:type="dcterms:W3CDTF">2026-05-29T16:05:19Z</dcterms:modified>
</cp:coreProperties>
</file>